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58" r:id="rId4"/>
    <p:sldId id="259" r:id="rId5"/>
    <p:sldId id="260" r:id="rId6"/>
    <p:sldId id="262" r:id="rId7"/>
    <p:sldId id="263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3" autoAdjust="0"/>
    <p:restoredTop sz="94660"/>
  </p:normalViewPr>
  <p:slideViewPr>
    <p:cSldViewPr snapToGrid="0">
      <p:cViewPr varScale="1">
        <p:scale>
          <a:sx n="37" d="100"/>
          <a:sy n="37" d="100"/>
        </p:scale>
        <p:origin x="19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8A4D6-AC63-4CF3-BDCE-C63BCC5DC659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7C1BC-F5D6-469C-98AD-66BC4541909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2077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8A4D6-AC63-4CF3-BDCE-C63BCC5DC659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7C1BC-F5D6-469C-98AD-66BC4541909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8480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8A4D6-AC63-4CF3-BDCE-C63BCC5DC659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7C1BC-F5D6-469C-98AD-66BC4541909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8321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8A4D6-AC63-4CF3-BDCE-C63BCC5DC659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7C1BC-F5D6-469C-98AD-66BC4541909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9305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8A4D6-AC63-4CF3-BDCE-C63BCC5DC659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7C1BC-F5D6-469C-98AD-66BC4541909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6052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8A4D6-AC63-4CF3-BDCE-C63BCC5DC659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7C1BC-F5D6-469C-98AD-66BC4541909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3134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8A4D6-AC63-4CF3-BDCE-C63BCC5DC659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7C1BC-F5D6-469C-98AD-66BC4541909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5085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8A4D6-AC63-4CF3-BDCE-C63BCC5DC659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7C1BC-F5D6-469C-98AD-66BC4541909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8491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8A4D6-AC63-4CF3-BDCE-C63BCC5DC659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7C1BC-F5D6-469C-98AD-66BC4541909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133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8A4D6-AC63-4CF3-BDCE-C63BCC5DC659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7C1BC-F5D6-469C-98AD-66BC4541909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7773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8A4D6-AC63-4CF3-BDCE-C63BCC5DC659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7C1BC-F5D6-469C-98AD-66BC4541909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3288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D8A4D6-AC63-4CF3-BDCE-C63BCC5DC659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57C1BC-F5D6-469C-98AD-66BC4541909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6374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83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9527" y="-482600"/>
            <a:ext cx="11062741" cy="4546600"/>
          </a:xfrm>
        </p:spPr>
        <p:txBody>
          <a:bodyPr>
            <a:normAutofit/>
          </a:bodyPr>
          <a:lstStyle/>
          <a:p>
            <a:r>
              <a:rPr lang="pt-BR" sz="4400" b="1" dirty="0" smtClean="0">
                <a:solidFill>
                  <a:schemeClr val="bg1"/>
                </a:solidFill>
                <a:latin typeface="+mn-lt"/>
              </a:rPr>
              <a:t>Análise Preditiva e Logística de Vendas de Combustíveis — Petrobras / ANP</a:t>
            </a:r>
            <a:br>
              <a:rPr lang="pt-BR" sz="4400" b="1" dirty="0" smtClean="0">
                <a:solidFill>
                  <a:schemeClr val="bg1"/>
                </a:solidFill>
                <a:latin typeface="+mn-lt"/>
              </a:rPr>
            </a:br>
            <a:r>
              <a:rPr lang="pt-BR" sz="4400" b="1" dirty="0" smtClean="0">
                <a:solidFill>
                  <a:schemeClr val="bg1"/>
                </a:solidFill>
              </a:rPr>
              <a:t/>
            </a:r>
            <a:br>
              <a:rPr lang="pt-BR" sz="4400" b="1" dirty="0" smtClean="0">
                <a:solidFill>
                  <a:schemeClr val="bg1"/>
                </a:solidFill>
              </a:rPr>
            </a:br>
            <a:r>
              <a:rPr lang="pt-BR" sz="4400" b="1" dirty="0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Período 2007–2017</a:t>
            </a:r>
            <a:endParaRPr lang="pt-BR" sz="44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1800" y="6162261"/>
            <a:ext cx="10922000" cy="1102138"/>
          </a:xfrm>
        </p:spPr>
        <p:txBody>
          <a:bodyPr>
            <a:normAutofit/>
          </a:bodyPr>
          <a:lstStyle/>
          <a:p>
            <a:r>
              <a:rPr lang="pt-BR" sz="1800" b="1" dirty="0" smtClean="0">
                <a:solidFill>
                  <a:schemeClr val="bg1"/>
                </a:solidFill>
              </a:rPr>
              <a:t>Maria Santos</a:t>
            </a:r>
          </a:p>
          <a:p>
            <a:r>
              <a:rPr lang="pt-BR" sz="1800" b="1" dirty="0" smtClean="0">
                <a:solidFill>
                  <a:schemeClr val="bg1"/>
                </a:solidFill>
              </a:rPr>
              <a:t>Setembro/2026</a:t>
            </a:r>
            <a:endParaRPr lang="pt-BR" sz="1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927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0" y="2690336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b="1" dirty="0">
                <a:solidFill>
                  <a:schemeClr val="bg1"/>
                </a:solidFill>
                <a:latin typeface="Arial" panose="020B0604020202020204" pitchFamily="34" charset="0"/>
              </a:rPr>
              <a:t>Desempenho preditivo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b="1" dirty="0">
                <a:solidFill>
                  <a:schemeClr val="bg1"/>
                </a:solidFill>
                <a:latin typeface="Arial" panose="020B0604020202020204" pitchFamily="34" charset="0"/>
              </a:rPr>
              <a:t>Eficiência operacional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b="1" dirty="0">
                <a:solidFill>
                  <a:schemeClr val="bg1"/>
                </a:solidFill>
                <a:latin typeface="Arial" panose="020B0604020202020204" pitchFamily="34" charset="0"/>
              </a:rPr>
              <a:t>Fluxo do pipeline com ícones ou setas: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b="1" dirty="0">
                <a:solidFill>
                  <a:schemeClr val="bg1"/>
                </a:solidFill>
                <a:latin typeface="Arial" panose="020B0604020202020204" pitchFamily="34" charset="0"/>
              </a:rPr>
              <a:t>Tratamento → Limpeza → Redução →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b="1" dirty="0">
                <a:solidFill>
                  <a:schemeClr val="bg1"/>
                </a:solidFill>
                <a:latin typeface="Arial" panose="020B0604020202020204" pitchFamily="34" charset="0"/>
              </a:rPr>
              <a:t>Codificação →Modelagem → Resultados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0110" y="0"/>
            <a:ext cx="1219200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436419"/>
            <a:ext cx="897774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4000" b="1" dirty="0" smtClean="0">
                <a:solidFill>
                  <a:schemeClr val="bg1"/>
                </a:solidFill>
              </a:rPr>
              <a:t>Visão Geral e Objetivo do projeto</a:t>
            </a:r>
            <a:endParaRPr lang="pt-BR" sz="4000" dirty="0"/>
          </a:p>
        </p:txBody>
      </p:sp>
      <p:sp>
        <p:nvSpPr>
          <p:cNvPr id="7" name="Rectangle 6"/>
          <p:cNvSpPr/>
          <p:nvPr/>
        </p:nvSpPr>
        <p:spPr>
          <a:xfrm>
            <a:off x="457200" y="1580723"/>
            <a:ext cx="11035146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800" b="1" dirty="0" smtClean="0">
                <a:solidFill>
                  <a:schemeClr val="bg1"/>
                </a:solidFill>
              </a:rPr>
              <a:t>Objetivo:  Pipeline </a:t>
            </a:r>
            <a:r>
              <a:rPr lang="pt-BR" sz="2800" dirty="0">
                <a:solidFill>
                  <a:schemeClr val="bg1"/>
                </a:solidFill>
              </a:rPr>
              <a:t>preditivo de ponta a ponta para classificar padrões de consumo e movimentação de derivados de petróleo no Brasil (base histórica ANP 2007–2017).</a:t>
            </a:r>
            <a:r>
              <a:rPr lang="pt-BR" sz="2800" b="1" dirty="0" smtClean="0">
                <a:solidFill>
                  <a:schemeClr val="bg1"/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800" b="1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800" b="1" dirty="0" smtClean="0">
                <a:solidFill>
                  <a:schemeClr val="bg1"/>
                </a:solidFill>
              </a:rPr>
              <a:t>Solução: </a:t>
            </a:r>
            <a:r>
              <a:rPr lang="pt-BR" sz="2800" dirty="0">
                <a:solidFill>
                  <a:schemeClr val="bg1"/>
                </a:solidFill>
              </a:rPr>
              <a:t>Modelo de Machine Learning focado em prever faixas de consumo (baixo, médio e alto) para embasar decisões logísticas e operacionais</a:t>
            </a:r>
            <a:r>
              <a:rPr lang="pt-BR" sz="2800" dirty="0" smtClean="0">
                <a:solidFill>
                  <a:schemeClr val="bg1"/>
                </a:solidFill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800" b="1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800" b="1" dirty="0" smtClean="0">
                <a:solidFill>
                  <a:schemeClr val="bg1"/>
                </a:solidFill>
              </a:rPr>
              <a:t>Impacto e Produção: </a:t>
            </a:r>
            <a:r>
              <a:rPr lang="pt-BR" sz="2800" dirty="0">
                <a:solidFill>
                  <a:schemeClr val="bg1"/>
                </a:solidFill>
              </a:rPr>
              <a:t>Arquitetura validada sem vazamento de dados (</a:t>
            </a:r>
            <a:r>
              <a:rPr lang="pt-BR" sz="2800" i="1" dirty="0">
                <a:solidFill>
                  <a:schemeClr val="bg1"/>
                </a:solidFill>
              </a:rPr>
              <a:t>data leakage</a:t>
            </a:r>
            <a:r>
              <a:rPr lang="pt-BR" sz="2800" dirty="0">
                <a:solidFill>
                  <a:schemeClr val="bg1"/>
                </a:solidFill>
              </a:rPr>
              <a:t>), preparada para ingestão e predição em horizontes temporais futuros (2018 a 2025) com alta confiabilidade para o negócio.</a:t>
            </a:r>
            <a:endParaRPr lang="pt-BR" sz="2800" b="1" dirty="0">
              <a:solidFill>
                <a:schemeClr val="bg1"/>
              </a:solidFill>
            </a:endParaRPr>
          </a:p>
          <a:p>
            <a:endParaRPr lang="pt-BR" sz="2400" b="1" dirty="0" smtClean="0">
              <a:solidFill>
                <a:schemeClr val="bg1"/>
              </a:solidFill>
            </a:endParaRPr>
          </a:p>
          <a:p>
            <a:endParaRPr lang="pt-BR" sz="2400" b="1" dirty="0">
              <a:solidFill>
                <a:schemeClr val="bg1"/>
              </a:solidFill>
            </a:endParaRPr>
          </a:p>
          <a:p>
            <a:endParaRPr lang="pt-BR" sz="2400" b="1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3659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86000"/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0392" y="365125"/>
            <a:ext cx="10809514" cy="1325563"/>
          </a:xfrm>
        </p:spPr>
        <p:txBody>
          <a:bodyPr>
            <a:normAutofit/>
          </a:bodyPr>
          <a:lstStyle/>
          <a:p>
            <a:r>
              <a:rPr lang="pt-BR" b="1" dirty="0" smtClean="0">
                <a:solidFill>
                  <a:schemeClr val="bg1"/>
                </a:solidFill>
              </a:rPr>
              <a:t>Objetivos e Metodologia</a:t>
            </a:r>
            <a:endParaRPr lang="pt-BR" b="1" dirty="0">
              <a:solidFill>
                <a:schemeClr val="bg1"/>
              </a:solidFill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375320" y="1814758"/>
            <a:ext cx="11425487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36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Desempenho preditivo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36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Eficiência operacional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36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Fluxo do pipeline com ícones ou setas: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36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Tratamento → Limpeza → Redução →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36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Codificação →Modelagem → Resultados</a:t>
            </a:r>
          </a:p>
        </p:txBody>
      </p:sp>
    </p:spTree>
    <p:extLst>
      <p:ext uri="{BB962C8B-B14F-4D97-AF65-F5344CB8AC3E}">
        <p14:creationId xmlns:p14="http://schemas.microsoft.com/office/powerpoint/2010/main" val="67008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8052" y="1"/>
            <a:ext cx="11035748" cy="1142999"/>
          </a:xfrm>
        </p:spPr>
        <p:txBody>
          <a:bodyPr>
            <a:normAutofit/>
          </a:bodyPr>
          <a:lstStyle/>
          <a:p>
            <a:r>
              <a:rPr lang="pt-BR" sz="40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Estrutura dos Arquivos</a:t>
            </a:r>
            <a:endParaRPr lang="pt-BR" sz="4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8052" y="1272208"/>
            <a:ext cx="11360426" cy="5192989"/>
          </a:xfrm>
        </p:spPr>
        <p:txBody>
          <a:bodyPr>
            <a:normAutofit fontScale="85000" lnSpcReduction="10000"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 </a:t>
            </a:r>
            <a:r>
              <a:rPr lang="pt-BR" b="1" dirty="0" smtClean="0">
                <a:solidFill>
                  <a:schemeClr val="bg1"/>
                </a:solidFill>
              </a:rPr>
              <a:t>Liquidos_Vendas_Historico_2007_a_2017.csv   # Base original, sem cabeçalho</a:t>
            </a:r>
          </a:p>
          <a:p>
            <a:pPr marL="0" indent="0">
              <a:buNone/>
            </a:pPr>
            <a:r>
              <a:rPr lang="pt-BR" b="1" dirty="0">
                <a:solidFill>
                  <a:schemeClr val="bg1"/>
                </a:solidFill>
              </a:rPr>
              <a:t> N</a:t>
            </a:r>
            <a:r>
              <a:rPr lang="pt-BR" b="1" dirty="0" smtClean="0">
                <a:solidFill>
                  <a:schemeClr val="bg1"/>
                </a:solidFill>
              </a:rPr>
              <a:t>otebooks/</a:t>
            </a:r>
          </a:p>
          <a:p>
            <a:r>
              <a:rPr lang="pt-BR" b="1" dirty="0" smtClean="0">
                <a:solidFill>
                  <a:schemeClr val="bg1"/>
                </a:solidFill>
              </a:rPr>
              <a:t>vendas_2007_a_2017_tratado1.csv                    # Versão 1.0 — Cabeçalho aplicado</a:t>
            </a:r>
          </a:p>
          <a:p>
            <a:r>
              <a:rPr lang="pt-BR" b="1" dirty="0" smtClean="0">
                <a:solidFill>
                  <a:schemeClr val="bg1"/>
                </a:solidFill>
              </a:rPr>
              <a:t>vendas_2007_a_2017_tratado_semcodif.csv    # Versão 2.0 — Limpeza e padronização</a:t>
            </a:r>
          </a:p>
          <a:p>
            <a:r>
              <a:rPr lang="pt-BR" b="1" dirty="0" smtClean="0">
                <a:solidFill>
                  <a:schemeClr val="bg1"/>
                </a:solidFill>
              </a:rPr>
              <a:t>vendas_2007_a_2017_final_100k.csv                 # Versão 3.0 — Redução para Power BI</a:t>
            </a:r>
          </a:p>
          <a:p>
            <a:r>
              <a:rPr lang="pt-BR" b="1" dirty="0" smtClean="0">
                <a:solidFill>
                  <a:schemeClr val="bg1"/>
                </a:solidFill>
              </a:rPr>
              <a:t>vendas_2007_a_2017_100k_ML.csv                   # Versão 4.0 — Codificação para ML</a:t>
            </a:r>
          </a:p>
          <a:p>
            <a:r>
              <a:rPr lang="pt-BR" b="1" dirty="0" smtClean="0">
                <a:solidFill>
                  <a:schemeClr val="bg1"/>
                </a:solidFill>
              </a:rPr>
              <a:t> src/</a:t>
            </a:r>
          </a:p>
          <a:p>
            <a:r>
              <a:rPr lang="pt-BR" b="1" dirty="0" smtClean="0">
                <a:solidFill>
                  <a:schemeClr val="bg1"/>
                </a:solidFill>
              </a:rPr>
              <a:t>preprocessamento.py                                             # Scripts de limpeza e transformação</a:t>
            </a:r>
          </a:p>
          <a:p>
            <a:r>
              <a:rPr lang="pt-BR" b="1" dirty="0" smtClean="0">
                <a:solidFill>
                  <a:schemeClr val="bg1"/>
                </a:solidFill>
              </a:rPr>
              <a:t>outputs/</a:t>
            </a:r>
          </a:p>
          <a:p>
            <a:r>
              <a:rPr lang="pt-BR" b="1" dirty="0" smtClean="0">
                <a:solidFill>
                  <a:schemeClr val="bg1"/>
                </a:solidFill>
              </a:rPr>
              <a:t>melhor_modelo_random_forest.pkl                    # Modelo vencedor salvo para reuso</a:t>
            </a:r>
          </a:p>
          <a:p>
            <a:r>
              <a:rPr lang="pt-BR" b="1" dirty="0" smtClean="0">
                <a:solidFill>
                  <a:schemeClr val="bg1"/>
                </a:solidFill>
              </a:rPr>
              <a:t>importancia_recursos_modelo.csv                       # Tabela para Power BI</a:t>
            </a:r>
          </a:p>
          <a:p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4198904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0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Resultados dos Modelos</a:t>
            </a:r>
            <a:r>
              <a:rPr lang="pt-BR" b="1" dirty="0" smtClean="0"/>
              <a:t/>
            </a:r>
            <a:br>
              <a:rPr lang="pt-BR" b="1" dirty="0" smtClean="0"/>
            </a:b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19200"/>
            <a:ext cx="10515600" cy="4957763"/>
          </a:xfrm>
        </p:spPr>
        <p:txBody>
          <a:bodyPr>
            <a:normAutofit fontScale="92500" lnSpcReduction="10000"/>
          </a:bodyPr>
          <a:lstStyle/>
          <a:p>
            <a:pPr marL="457200" lvl="1" indent="0">
              <a:buNone/>
            </a:pPr>
            <a:endParaRPr lang="pt-BR" i="1" dirty="0" smtClean="0">
              <a:effectLst/>
            </a:endParaRPr>
          </a:p>
          <a:p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🏆 </a:t>
            </a:r>
            <a:r>
              <a:rPr lang="pt-BR" sz="3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Seleção do Modelo Campeão — Duelo 3 (GridSearchCV)</a:t>
            </a:r>
          </a:p>
          <a:p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Critério de Seleção:</a:t>
            </a:r>
            <a:endParaRPr lang="pt-BR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Pontuação F1-Score ponderado no conjunto de teste.</a:t>
            </a:r>
          </a:p>
          <a:p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Modelo vencedor = maior F1-Score entre os candidatos.</a:t>
            </a:r>
          </a:p>
          <a:p>
            <a:r>
              <a:rPr lang="pt-BR" sz="3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Resultado:</a:t>
            </a:r>
            <a:endParaRPr lang="pt-BR" sz="3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Modelo Campeão: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Random Forest (Pipeline + SMOTE, Otimizado)</a:t>
            </a:r>
          </a:p>
          <a:p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F1-Score do Vencedor: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0,8260</a:t>
            </a:r>
          </a:p>
          <a:p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Acurácia: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0,83</a:t>
            </a:r>
          </a:p>
          <a:p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Robustez: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equilíbrio sólido entre precisão e recall, com estabilidade superior após ajuste fino de hiperparâmetros.</a:t>
            </a:r>
          </a:p>
          <a:p>
            <a:pPr lvl="1"/>
            <a:endParaRPr lang="pt-BR" dirty="0" smtClean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6444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8580" y="304799"/>
            <a:ext cx="9350864" cy="4838153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5442725"/>
              </p:ext>
            </p:extLst>
          </p:nvPr>
        </p:nvGraphicFramePr>
        <p:xfrm>
          <a:off x="268352" y="304799"/>
          <a:ext cx="2256186" cy="4838154"/>
        </p:xfrm>
        <a:graphic>
          <a:graphicData uri="http://schemas.openxmlformats.org/drawingml/2006/table">
            <a:tbl>
              <a:tblPr/>
              <a:tblGrid>
                <a:gridCol w="1128093">
                  <a:extLst>
                    <a:ext uri="{9D8B030D-6E8A-4147-A177-3AD203B41FA5}">
                      <a16:colId xmlns:a16="http://schemas.microsoft.com/office/drawing/2014/main" val="2206738685"/>
                    </a:ext>
                  </a:extLst>
                </a:gridCol>
                <a:gridCol w="1128093">
                  <a:extLst>
                    <a:ext uri="{9D8B030D-6E8A-4147-A177-3AD203B41FA5}">
                      <a16:colId xmlns:a16="http://schemas.microsoft.com/office/drawing/2014/main" val="4234815243"/>
                    </a:ext>
                  </a:extLst>
                </a:gridCol>
              </a:tblGrid>
              <a:tr h="401955">
                <a:tc>
                  <a:txBody>
                    <a:bodyPr/>
                    <a:lstStyle/>
                    <a:p>
                      <a:pPr fontAlgn="ctr"/>
                      <a:r>
                        <a:rPr lang="pt-BR" sz="1200" b="1" dirty="0">
                          <a:effectLst/>
                        </a:rPr>
                        <a:t>Recurso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200" b="1" dirty="0">
                          <a:effectLst/>
                        </a:rPr>
                        <a:t>Importância (%)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797140"/>
                  </a:ext>
                </a:extLst>
              </a:tr>
              <a:tr h="574221">
                <a:tc>
                  <a:txBody>
                    <a:bodyPr/>
                    <a:lstStyle/>
                    <a:p>
                      <a:pPr fontAlgn="ctr"/>
                      <a:r>
                        <a:rPr lang="pt-BR" sz="1200">
                          <a:effectLst/>
                        </a:rPr>
                        <a:t>Agente Regulador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200" dirty="0">
                          <a:effectLst/>
                        </a:rPr>
                        <a:t>17,1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7386533"/>
                  </a:ext>
                </a:extLst>
              </a:tr>
              <a:tr h="574221">
                <a:tc>
                  <a:txBody>
                    <a:bodyPr/>
                    <a:lstStyle/>
                    <a:p>
                      <a:pPr fontAlgn="ctr"/>
                      <a:r>
                        <a:rPr lang="pt-BR" sz="1200">
                          <a:effectLst/>
                        </a:rPr>
                        <a:t>Mercado Destinatário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200" dirty="0">
                          <a:effectLst/>
                        </a:rPr>
                        <a:t>16,9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4214244"/>
                  </a:ext>
                </a:extLst>
              </a:tr>
              <a:tr h="574221">
                <a:tc>
                  <a:txBody>
                    <a:bodyPr/>
                    <a:lstStyle/>
                    <a:p>
                      <a:pPr fontAlgn="ctr"/>
                      <a:r>
                        <a:rPr lang="pt-BR" sz="1200">
                          <a:effectLst/>
                        </a:rPr>
                        <a:t>Região de Origem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200" dirty="0">
                          <a:effectLst/>
                        </a:rPr>
                        <a:t>12,8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8260011"/>
                  </a:ext>
                </a:extLst>
              </a:tr>
              <a:tr h="401955">
                <a:tc>
                  <a:txBody>
                    <a:bodyPr/>
                    <a:lstStyle/>
                    <a:p>
                      <a:pPr fontAlgn="ctr"/>
                      <a:r>
                        <a:rPr lang="pt-BR" sz="1200">
                          <a:effectLst/>
                        </a:rPr>
                        <a:t>UF de Destino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200" dirty="0">
                          <a:effectLst/>
                        </a:rPr>
                        <a:t>11,8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8047195"/>
                  </a:ext>
                </a:extLst>
              </a:tr>
              <a:tr h="574221">
                <a:tc>
                  <a:txBody>
                    <a:bodyPr/>
                    <a:lstStyle/>
                    <a:p>
                      <a:pPr fontAlgn="ctr"/>
                      <a:r>
                        <a:rPr lang="pt-BR" sz="1200">
                          <a:effectLst/>
                        </a:rPr>
                        <a:t>Região de Destino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200" dirty="0">
                          <a:effectLst/>
                        </a:rPr>
                        <a:t>10,9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5216042"/>
                  </a:ext>
                </a:extLst>
              </a:tr>
              <a:tr h="401955">
                <a:tc>
                  <a:txBody>
                    <a:bodyPr/>
                    <a:lstStyle/>
                    <a:p>
                      <a:pPr fontAlgn="ctr"/>
                      <a:r>
                        <a:rPr lang="pt-BR" sz="1200">
                          <a:effectLst/>
                        </a:rPr>
                        <a:t>Nome do Produto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200" dirty="0">
                          <a:effectLst/>
                        </a:rPr>
                        <a:t>10,2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311911"/>
                  </a:ext>
                </a:extLst>
              </a:tr>
              <a:tr h="401955">
                <a:tc>
                  <a:txBody>
                    <a:bodyPr/>
                    <a:lstStyle/>
                    <a:p>
                      <a:pPr fontAlgn="ctr"/>
                      <a:r>
                        <a:rPr lang="pt-BR" sz="1200">
                          <a:effectLst/>
                        </a:rPr>
                        <a:t>UF de Origem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200" dirty="0">
                          <a:effectLst/>
                        </a:rPr>
                        <a:t>9,4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1168117"/>
                  </a:ext>
                </a:extLst>
              </a:tr>
              <a:tr h="229689">
                <a:tc>
                  <a:txBody>
                    <a:bodyPr/>
                    <a:lstStyle/>
                    <a:p>
                      <a:pPr fontAlgn="ctr"/>
                      <a:r>
                        <a:rPr lang="pt-BR" sz="1200">
                          <a:effectLst/>
                        </a:rPr>
                        <a:t>Ano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200" dirty="0">
                          <a:effectLst/>
                        </a:rPr>
                        <a:t>5,8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270381"/>
                  </a:ext>
                </a:extLst>
              </a:tr>
              <a:tr h="229689">
                <a:tc>
                  <a:txBody>
                    <a:bodyPr/>
                    <a:lstStyle/>
                    <a:p>
                      <a:pPr fontAlgn="ctr"/>
                      <a:r>
                        <a:rPr lang="pt-BR" sz="1200">
                          <a:effectLst/>
                        </a:rPr>
                        <a:t>Mês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200" dirty="0">
                          <a:effectLst/>
                        </a:rPr>
                        <a:t>3,7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1253925"/>
                  </a:ext>
                </a:extLst>
              </a:tr>
              <a:tr h="229689">
                <a:tc>
                  <a:txBody>
                    <a:bodyPr/>
                    <a:lstStyle/>
                    <a:p>
                      <a:pPr fontAlgn="ctr"/>
                      <a:r>
                        <a:rPr lang="pt-BR" sz="1200">
                          <a:effectLst/>
                        </a:rPr>
                        <a:t>Trimestre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200" dirty="0">
                          <a:effectLst/>
                        </a:rPr>
                        <a:t>1,5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647804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68353" y="5492204"/>
            <a:ext cx="1168109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Aspectos </a:t>
            </a:r>
            <a:r>
              <a:rPr lang="pt-BR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regulatórios e logísticos</a:t>
            </a:r>
            <a:r>
              <a:rPr lang="pt-BR" sz="24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são os principais fatores que influenciam as   previsões do modelo, orientando estratégias de </a:t>
            </a:r>
            <a:r>
              <a:rPr lang="pt-BR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planejamento e otimização</a:t>
            </a:r>
            <a:r>
              <a:rPr lang="pt-BR" sz="24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das operações de transporte e comercialização na Petrobras/ANP.</a:t>
            </a:r>
            <a:endParaRPr lang="pt-BR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845" y="5492204"/>
            <a:ext cx="409632" cy="381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73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457200" y="295005"/>
            <a:ext cx="1219200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1" i="1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3200" b="1" i="1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Conclusões e Aplicações</a:t>
            </a:r>
            <a:endParaRPr kumimoji="0" lang="pt-BR" altLang="pt-BR" sz="32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Benefícios práticos: previsão de demanda, otimização logística, redução de custos.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Integração com Power BI e relatórios executivos.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457200" y="2233214"/>
            <a:ext cx="10682733" cy="433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Síntese:</a:t>
            </a:r>
            <a:r>
              <a:rPr kumimoji="0" lang="pt-BR" altLang="pt-BR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O modelo Random Forest otimizado demonstrou alta precisão 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pt-BR" altLang="pt-BR" sz="24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kumimoji="0" lang="pt-BR" altLang="pt-BR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relevância das variáveis regulatórias e logísticas.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2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Aplicações:</a:t>
            </a:r>
            <a:r>
              <a:rPr kumimoji="0" lang="pt-BR" altLang="pt-BR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Apoio à tomada de decisão estratégica na Petrobras/ANP.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2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Próximos passos:</a:t>
            </a:r>
            <a:r>
              <a:rPr kumimoji="0" lang="pt-BR" altLang="pt-BR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Expansão do modelo para novos períodos e integração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pt-BR" altLang="pt-BR" sz="24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pt-BR" altLang="pt-BR" sz="2400" dirty="0" smtClean="0">
                <a:solidFill>
                  <a:schemeClr val="bg1"/>
                </a:solidFill>
                <a:latin typeface="Arial" panose="020B0604020202020204" pitchFamily="34" charset="0"/>
              </a:rPr>
              <a:t> com</a:t>
            </a:r>
            <a:r>
              <a:rPr kumimoji="0" lang="pt-BR" altLang="pt-BR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Power BI para monitoramento contínuo.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pt-BR" altLang="pt-BR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18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pt-BR" altLang="pt-BR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1800" b="0" i="0" u="sng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1800" b="0" i="0" u="sng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800" b="0" i="0" u="sng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1800" b="0" i="1" u="sng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Maria Santos — Setembro/2026</a:t>
            </a:r>
            <a:endParaRPr kumimoji="0" lang="pt-BR" altLang="pt-BR" sz="1800" b="0" i="0" u="sng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5726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1116</TotalTime>
  <Words>464</Words>
  <Application>Microsoft Office PowerPoint</Application>
  <PresentationFormat>Widescreen</PresentationFormat>
  <Paragraphs>83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Análise Preditiva e Logística de Vendas de Combustíveis — Petrobras / ANP  Período 2007–2017</vt:lpstr>
      <vt:lpstr>PowerPoint Presentation</vt:lpstr>
      <vt:lpstr>Objetivos e Metodologia</vt:lpstr>
      <vt:lpstr>Estrutura dos Arquivos</vt:lpstr>
      <vt:lpstr>Resultados dos Modelos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Análise Preditiva e Logística de Vendas de Combustíveis — Petrobras / ANP  Período 2007–2017</dc:title>
  <dc:creator>Cidinha</dc:creator>
  <cp:lastModifiedBy>Cidinha</cp:lastModifiedBy>
  <cp:revision>16</cp:revision>
  <dcterms:created xsi:type="dcterms:W3CDTF">2026-09-14T01:36:34Z</dcterms:created>
  <dcterms:modified xsi:type="dcterms:W3CDTF">2026-09-30T01:15:57Z</dcterms:modified>
</cp:coreProperties>
</file>